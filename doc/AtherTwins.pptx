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sldIdLst>
    <p:sldId id="256" r:id="rId2"/>
    <p:sldId id="257" r:id="rId3"/>
    <p:sldId id="265" r:id="rId4"/>
    <p:sldId id="259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5" r:id="rId13"/>
    <p:sldId id="277" r:id="rId14"/>
    <p:sldId id="280" r:id="rId15"/>
    <p:sldId id="279" r:id="rId16"/>
    <p:sldId id="276" r:id="rId17"/>
    <p:sldId id="274" r:id="rId18"/>
    <p:sldId id="278" r:id="rId19"/>
    <p:sldId id="260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F23D4-3753-4E74-A1CD-2F9DF3B0270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BE9D8-8E70-4228-9BDA-F4E6BA95F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BE9D8-8E70-4228-9BDA-F4E6BA95F1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51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BE9D8-8E70-4228-9BDA-F4E6BA95F15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11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1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0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3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47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3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6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6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8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5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5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2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75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8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1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2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27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8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8A034D1-62A6-42AE-A4A1-F6C12AD8A53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9F23829-2A1E-4FDF-8671-9F6881CEF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5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53A9-3B50-DE0F-FC7E-7FFDC18DF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832605"/>
            <a:ext cx="8825658" cy="2677648"/>
          </a:xfrm>
        </p:spPr>
        <p:txBody>
          <a:bodyPr>
            <a:normAutofit/>
          </a:bodyPr>
          <a:lstStyle/>
          <a:p>
            <a:r>
              <a:rPr lang="en-US" dirty="0"/>
              <a:t>AetherTwin.</a:t>
            </a:r>
            <a:r>
              <a:rPr lang="en-US" dirty="0">
                <a:solidFill>
                  <a:srgbClr val="FF0000"/>
                </a:solidFill>
              </a:rPr>
              <a:t>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ED0F1-184E-9C5A-C43D-79E1A14640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– Intelligent Industrial Operations AI</a:t>
            </a:r>
          </a:p>
        </p:txBody>
      </p:sp>
    </p:spTree>
    <p:extLst>
      <p:ext uri="{BB962C8B-B14F-4D97-AF65-F5344CB8AC3E}">
        <p14:creationId xmlns:p14="http://schemas.microsoft.com/office/powerpoint/2010/main" val="3175698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DCBF-879F-BABC-C053-6FC29A85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664DA-2BE8-031E-B372-3247903EF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Today's industrial plants have mature SCADA and PLC systems, but they still suffer from several limitations:</a:t>
            </a:r>
          </a:p>
          <a:p>
            <a:r>
              <a:rPr lang="en-US" dirty="0"/>
              <a:t>SCADA only displays alarms; it doesn't explain why they happened. </a:t>
            </a:r>
          </a:p>
          <a:p>
            <a:r>
              <a:rPr lang="en-US" dirty="0"/>
              <a:t>Historical data is rarely used for predictive insights. </a:t>
            </a:r>
          </a:p>
          <a:p>
            <a:r>
              <a:rPr lang="en-US" dirty="0"/>
              <a:t>Remote monitoring is limited. </a:t>
            </a:r>
          </a:p>
          <a:p>
            <a:r>
              <a:rPr lang="en-US" dirty="0"/>
              <a:t>Maintenance teams rely on manual troubleshooting. </a:t>
            </a:r>
          </a:p>
          <a:p>
            <a:r>
              <a:rPr lang="en-US" dirty="0"/>
              <a:t>Spare part identification takes time. </a:t>
            </a:r>
          </a:p>
          <a:p>
            <a:r>
              <a:rPr lang="en-US" dirty="0"/>
              <a:t>Alarm fatigue causes delayed responses. </a:t>
            </a:r>
          </a:p>
          <a:p>
            <a:r>
              <a:rPr lang="en-US" dirty="0"/>
              <a:t>Knowledge is locked inside experienced engineers.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74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26D8-D346-1235-5633-D4C9145F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Alerts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BF91A-2D04-4B88-746C-20CCC10EA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SCADA:</a:t>
            </a:r>
          </a:p>
          <a:p>
            <a:r>
              <a:rPr lang="en-US" dirty="0"/>
              <a:t>Pump-101 Failed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24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3B5C6-EC57-35A0-B422-612E69F16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Alarm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225C-08A9-7576-AEFB-A3E551723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9250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Pump-101 Stopped </a:t>
            </a:r>
          </a:p>
          <a:p>
            <a:r>
              <a:rPr lang="en-US" dirty="0"/>
              <a:t>Likely causes: </a:t>
            </a:r>
          </a:p>
          <a:p>
            <a:r>
              <a:rPr lang="en-US" dirty="0"/>
              <a:t>✓ Low suction pressure </a:t>
            </a:r>
          </a:p>
          <a:p>
            <a:r>
              <a:rPr lang="en-US" dirty="0"/>
              <a:t>✓ Motor overload </a:t>
            </a:r>
          </a:p>
          <a:p>
            <a:r>
              <a:rPr lang="en-US" dirty="0"/>
              <a:t>✓ Bearing temperature high </a:t>
            </a:r>
          </a:p>
          <a:p>
            <a:r>
              <a:rPr lang="en-US" dirty="0"/>
              <a:t>✓ Previous vibration increase </a:t>
            </a:r>
          </a:p>
          <a:p>
            <a:r>
              <a:rPr lang="en-US" dirty="0"/>
              <a:t>Recommended checks: 1. Verify suction valve </a:t>
            </a:r>
          </a:p>
          <a:p>
            <a:r>
              <a:rPr lang="en-US" dirty="0"/>
              <a:t>2. Check motor current </a:t>
            </a:r>
          </a:p>
          <a:p>
            <a:r>
              <a:rPr lang="en-US" dirty="0"/>
              <a:t>3. Inspect bearing </a:t>
            </a:r>
          </a:p>
          <a:p>
            <a:r>
              <a:rPr lang="en-US" dirty="0"/>
              <a:t>4. Review maintenance history Estimated </a:t>
            </a:r>
          </a:p>
          <a:p>
            <a:r>
              <a:rPr lang="en-US" b="1" dirty="0"/>
              <a:t>70% and above provides alert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50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2232-6733-2B1B-13F2-24136C9B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Cause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6AAA-8132-4B43-97D1-09ECB315B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correlates:</a:t>
            </a:r>
          </a:p>
          <a:p>
            <a:r>
              <a:rPr lang="en-US" dirty="0"/>
              <a:t>PLC tags </a:t>
            </a:r>
          </a:p>
          <a:p>
            <a:r>
              <a:rPr lang="en-US" dirty="0"/>
              <a:t>Sensor trends </a:t>
            </a:r>
          </a:p>
          <a:p>
            <a:r>
              <a:rPr lang="en-US" dirty="0"/>
              <a:t>Previous failures </a:t>
            </a:r>
          </a:p>
          <a:p>
            <a:r>
              <a:rPr lang="en-US" dirty="0"/>
              <a:t>Maintenance records </a:t>
            </a:r>
          </a:p>
          <a:p>
            <a:r>
              <a:rPr lang="en-US" dirty="0"/>
              <a:t>Weather </a:t>
            </a:r>
          </a:p>
          <a:p>
            <a:r>
              <a:rPr lang="en-US" dirty="0"/>
              <a:t>Operator logs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456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509A-304E-7516-82F6-CA268125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Cause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04B4-83F9-1C33-167C-3542EC9B0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Alarm occurred  --SCADA</a:t>
            </a:r>
          </a:p>
          <a:p>
            <a:endParaRPr lang="en-US" dirty="0"/>
          </a:p>
          <a:p>
            <a:r>
              <a:rPr lang="en-US" dirty="0"/>
              <a:t>AI Agent provides</a:t>
            </a:r>
          </a:p>
          <a:p>
            <a:r>
              <a:rPr lang="en-US" dirty="0"/>
              <a:t>Root Cause Probability </a:t>
            </a:r>
          </a:p>
          <a:p>
            <a:r>
              <a:rPr lang="en-US" dirty="0"/>
              <a:t>Bearing Failure 82% </a:t>
            </a:r>
          </a:p>
          <a:p>
            <a:r>
              <a:rPr lang="en-US" dirty="0"/>
              <a:t>Low Pressure 11% </a:t>
            </a:r>
          </a:p>
          <a:p>
            <a:r>
              <a:rPr lang="en-US" dirty="0"/>
              <a:t>Motor Fault 5% </a:t>
            </a:r>
          </a:p>
          <a:p>
            <a:r>
              <a:rPr lang="en-US" dirty="0"/>
              <a:t>Sensor Error 2%</a:t>
            </a:r>
          </a:p>
        </p:txBody>
      </p:sp>
    </p:spTree>
    <p:extLst>
      <p:ext uri="{BB962C8B-B14F-4D97-AF65-F5344CB8AC3E}">
        <p14:creationId xmlns:p14="http://schemas.microsoft.com/office/powerpoint/2010/main" val="251075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5FE4-B49C-B8FD-ED69-4557A3F6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1BEBD-8BDA-C5FE-5A65-EA002E6F4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reacting after failure –SCADA</a:t>
            </a:r>
          </a:p>
          <a:p>
            <a:endParaRPr lang="en-US" dirty="0"/>
          </a:p>
          <a:p>
            <a:r>
              <a:rPr lang="en-US" dirty="0"/>
              <a:t>Bearing vibration increasing </a:t>
            </a:r>
          </a:p>
          <a:p>
            <a:r>
              <a:rPr lang="en-US" dirty="0"/>
              <a:t>Failure probability: </a:t>
            </a:r>
          </a:p>
          <a:p>
            <a:r>
              <a:rPr lang="en-US" dirty="0"/>
              <a:t>7 days → 18% </a:t>
            </a:r>
          </a:p>
          <a:p>
            <a:r>
              <a:rPr lang="en-US" dirty="0"/>
              <a:t>14 days → 41% </a:t>
            </a:r>
          </a:p>
          <a:p>
            <a:r>
              <a:rPr lang="en-US" dirty="0"/>
              <a:t>30 days → 79%</a:t>
            </a:r>
          </a:p>
          <a:p>
            <a:r>
              <a:rPr lang="en-US" dirty="0"/>
              <a:t>Maintenance can be scheduled before failure.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798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C610B-E212-9688-1916-AE3E5CB9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73998-3CA6-CE1D-4FA5-47BC13C27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did Pump-5 stop yesterday?</a:t>
            </a:r>
          </a:p>
          <a:p>
            <a:endParaRPr lang="en-US" dirty="0"/>
          </a:p>
          <a:p>
            <a:r>
              <a:rPr lang="en-US" dirty="0"/>
              <a:t>AI answers:</a:t>
            </a:r>
          </a:p>
          <a:p>
            <a:r>
              <a:rPr lang="en-US" dirty="0"/>
              <a:t>Shows alarm timeline </a:t>
            </a:r>
          </a:p>
          <a:p>
            <a:r>
              <a:rPr lang="en-US" dirty="0"/>
              <a:t>Displays temperature graph </a:t>
            </a:r>
          </a:p>
          <a:p>
            <a:r>
              <a:rPr lang="en-US" dirty="0"/>
              <a:t>Identifies probable cause </a:t>
            </a:r>
          </a:p>
          <a:p>
            <a:r>
              <a:rPr lang="en-US" dirty="0"/>
              <a:t>References maintenance manual </a:t>
            </a:r>
          </a:p>
          <a:p>
            <a:r>
              <a:rPr lang="en-US" dirty="0"/>
              <a:t>Suggests next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59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69BC-3D22-45FF-74B1-AA67653F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Alarm Escalation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2717A-76FE-6697-A286-2314C4EA5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06442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Alarm  &amp; Create Incident Ticket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No acknowledgement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Call through voice bot after 30 sec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Notify Shift Engineer after 2 min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Still no response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Notify Maintenance Manager after 5 min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Notify Plant Head after 10 min</a:t>
            </a:r>
          </a:p>
        </p:txBody>
      </p:sp>
    </p:spTree>
    <p:extLst>
      <p:ext uri="{BB962C8B-B14F-4D97-AF65-F5344CB8AC3E}">
        <p14:creationId xmlns:p14="http://schemas.microsoft.com/office/powerpoint/2010/main" val="72141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0483-D6C0-B7CC-8C83-567408B9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Spare Parts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E24DE-3317-BA89-4F66-139C2A8EA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Pump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Bearing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Part Number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Vendor</a:t>
            </a:r>
          </a:p>
          <a:p>
            <a:r>
              <a:rPr lang="en-US" dirty="0"/>
              <a:t>It can answer:</a:t>
            </a:r>
          </a:p>
          <a:p>
            <a:r>
              <a:rPr lang="en-US" dirty="0"/>
              <a:t>"Which bearing is installed in Pump-102?"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297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95FBA-FBA9-4C91-9C7E-BEF22FE2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Equipment Digital Twin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EB1C1-0975-545C-F806-406D29980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each asset, maintain:</a:t>
            </a:r>
          </a:p>
          <a:p>
            <a:r>
              <a:rPr lang="en-US" dirty="0"/>
              <a:t>Live status </a:t>
            </a:r>
          </a:p>
          <a:p>
            <a:r>
              <a:rPr lang="en-US" dirty="0"/>
              <a:t>Historical trends </a:t>
            </a:r>
          </a:p>
          <a:p>
            <a:r>
              <a:rPr lang="en-US" dirty="0"/>
              <a:t>Maintenance history </a:t>
            </a:r>
          </a:p>
          <a:p>
            <a:r>
              <a:rPr lang="en-US" dirty="0"/>
              <a:t>Drawings </a:t>
            </a:r>
          </a:p>
          <a:p>
            <a:r>
              <a:rPr lang="en-US" dirty="0"/>
              <a:t>Manuals </a:t>
            </a:r>
          </a:p>
          <a:p>
            <a:r>
              <a:rPr lang="en-US" dirty="0"/>
              <a:t>PLC logic references </a:t>
            </a:r>
          </a:p>
          <a:p>
            <a:r>
              <a:rPr lang="en-US" dirty="0"/>
              <a:t>Installed spare parts </a:t>
            </a:r>
          </a:p>
          <a:p>
            <a:r>
              <a:rPr lang="en-US" dirty="0"/>
              <a:t>Vendor contacts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1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34B9-CCFC-1738-A683-C6711285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PLC Logic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3AA4F-81B9-FC61-DC7B-604948C2A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Important: </a:t>
            </a:r>
            <a:r>
              <a:rPr lang="en-US" b="1" dirty="0"/>
              <a:t>Never allow AI to directly modify PLC logic in production.</a:t>
            </a:r>
          </a:p>
          <a:p>
            <a:endParaRPr lang="en-US" b="1" dirty="0"/>
          </a:p>
          <a:p>
            <a:r>
              <a:rPr lang="en-US" dirty="0"/>
              <a:t>Instead:</a:t>
            </a:r>
          </a:p>
          <a:p>
            <a:r>
              <a:rPr lang="en-US" dirty="0"/>
              <a:t>Explain ladder logic </a:t>
            </a:r>
          </a:p>
          <a:p>
            <a:r>
              <a:rPr lang="en-US" dirty="0"/>
              <a:t>Suggest optimized logic </a:t>
            </a:r>
          </a:p>
          <a:p>
            <a:r>
              <a:rPr lang="en-US" dirty="0"/>
              <a:t>Simulate changes </a:t>
            </a:r>
          </a:p>
          <a:p>
            <a:r>
              <a:rPr lang="en-US" dirty="0"/>
              <a:t>Generate draft code </a:t>
            </a:r>
          </a:p>
          <a:p>
            <a:r>
              <a:rPr lang="en-US" dirty="0"/>
              <a:t>Require engineer approval before deployment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525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E2BD-099C-26F2-41F5-18D8F4CF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79D668F-E583-84D6-7DD7-AA5002AF2F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070175"/>
              </p:ext>
            </p:extLst>
          </p:nvPr>
        </p:nvGraphicFramePr>
        <p:xfrm>
          <a:off x="2044557" y="2907587"/>
          <a:ext cx="5650849" cy="2564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7534">
                  <a:extLst>
                    <a:ext uri="{9D8B030D-6E8A-4147-A177-3AD203B41FA5}">
                      <a16:colId xmlns:a16="http://schemas.microsoft.com/office/drawing/2014/main" val="3717813049"/>
                    </a:ext>
                  </a:extLst>
                </a:gridCol>
                <a:gridCol w="4183315">
                  <a:extLst>
                    <a:ext uri="{9D8B030D-6E8A-4147-A177-3AD203B41FA5}">
                      <a16:colId xmlns:a16="http://schemas.microsoft.com/office/drawing/2014/main" val="3935911353"/>
                    </a:ext>
                  </a:extLst>
                </a:gridCol>
              </a:tblGrid>
              <a:tr h="326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Technology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59707208"/>
                  </a:ext>
                </a:extLst>
              </a:tr>
              <a:tr h="3266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Frontend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Angular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8519721"/>
                  </a:ext>
                </a:extLst>
              </a:tr>
              <a:tr h="3266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Mobile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Angular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9255927"/>
                  </a:ext>
                </a:extLst>
              </a:tr>
              <a:tr h="3266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Backend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FastAPI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23594850"/>
                  </a:ext>
                </a:extLst>
              </a:tr>
              <a:tr h="6050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OpenAI GPT-5.5 or open-weight LLM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94075981"/>
                  </a:ext>
                </a:extLst>
              </a:tr>
              <a:tr h="3266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Database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MongoDB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79172713"/>
                  </a:ext>
                </a:extLst>
              </a:tr>
              <a:tr h="3266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Cloud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Azure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1411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393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ABCA-5057-BDEE-5BE3-31879F34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AI/ML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3FC63-0153-CF87-A5D0-A06CC4E2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Anomaly Detection</a:t>
            </a:r>
          </a:p>
          <a:p>
            <a:r>
              <a:rPr lang="en-US" dirty="0"/>
              <a:t>Autoencoder Neural Network</a:t>
            </a:r>
          </a:p>
          <a:p>
            <a:r>
              <a:rPr lang="en-US" dirty="0"/>
              <a:t>Detects abnormal operating behavior by reconstructing telemetry and measuring reconstruction error (MSE).</a:t>
            </a:r>
          </a:p>
          <a:p>
            <a:endParaRPr lang="en-US" dirty="0"/>
          </a:p>
          <a:p>
            <a:r>
              <a:rPr lang="en-US" dirty="0"/>
              <a:t>Fault Diagnosis &amp; Classification</a:t>
            </a:r>
          </a:p>
          <a:p>
            <a:r>
              <a:rPr lang="en-US" dirty="0"/>
              <a:t>Multi-Layer Perceptron (MLP) Classifier</a:t>
            </a:r>
          </a:p>
          <a:p>
            <a:r>
              <a:rPr lang="en-US" dirty="0"/>
              <a:t>Classifies equipment faults such as Pump Cavitation, Bearing Wear, Pipe Leak, and Motor Overheating with confidence scores.</a:t>
            </a:r>
          </a:p>
        </p:txBody>
      </p:sp>
    </p:spTree>
    <p:extLst>
      <p:ext uri="{BB962C8B-B14F-4D97-AF65-F5344CB8AC3E}">
        <p14:creationId xmlns:p14="http://schemas.microsoft.com/office/powerpoint/2010/main" val="2716342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06A4-4BBA-2789-ED54-F58ACBA9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08922-3684-D996-EBFF-CD1894D51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Role-Based Access Control </a:t>
            </a:r>
          </a:p>
          <a:p>
            <a:r>
              <a:rPr lang="en-US" dirty="0"/>
              <a:t>Encrypted Communication </a:t>
            </a:r>
          </a:p>
          <a:p>
            <a:r>
              <a:rPr lang="en-US" dirty="0"/>
              <a:t>Secure Apis </a:t>
            </a:r>
          </a:p>
          <a:p>
            <a:r>
              <a:rPr lang="en-US" dirty="0"/>
              <a:t>AI Governance With Human Approval For Critical Actions </a:t>
            </a:r>
          </a:p>
          <a:p>
            <a:r>
              <a:rPr lang="en-US" dirty="0"/>
              <a:t>Comprehensive Audit Logging </a:t>
            </a:r>
          </a:p>
          <a:p>
            <a:r>
              <a:rPr lang="en-US" dirty="0"/>
              <a:t>Least-Privilege AI Agents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355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6955-06F4-D5C4-1609-095D9762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6247D-C26F-79C7-F6F8-F51FDCD78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Energy Optimization</a:t>
            </a:r>
          </a:p>
          <a:p>
            <a:r>
              <a:rPr lang="en-US" dirty="0"/>
              <a:t>AI identifies:</a:t>
            </a:r>
          </a:p>
          <a:p>
            <a:r>
              <a:rPr lang="en-US" dirty="0"/>
              <a:t>Pumps running at low efficiency </a:t>
            </a:r>
          </a:p>
          <a:p>
            <a:r>
              <a:rPr lang="en-US" dirty="0"/>
              <a:t>Idle motors </a:t>
            </a:r>
          </a:p>
          <a:p>
            <a:r>
              <a:rPr lang="en-US" dirty="0"/>
              <a:t>Compressed air leaks </a:t>
            </a:r>
          </a:p>
          <a:p>
            <a:r>
              <a:rPr lang="en-US" dirty="0"/>
              <a:t>High energy consumption </a:t>
            </a:r>
          </a:p>
          <a:p>
            <a:r>
              <a:rPr lang="en-US" dirty="0"/>
              <a:t>and recommends 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55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C4D1-CD4B-BBD8-725B-AAD297E1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Shift Report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7CCD-3A42-898F-BB64-391277E50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Night Shift Summary</a:t>
            </a:r>
          </a:p>
          <a:p>
            <a:r>
              <a:rPr lang="en-US" dirty="0"/>
              <a:t>Production:</a:t>
            </a:r>
          </a:p>
          <a:p>
            <a:r>
              <a:rPr lang="en-US" dirty="0"/>
              <a:t>98%</a:t>
            </a:r>
          </a:p>
          <a:p>
            <a:r>
              <a:rPr lang="en-US" dirty="0"/>
              <a:t>Critical alarms: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Minor alarms:</a:t>
            </a:r>
          </a:p>
          <a:p>
            <a:r>
              <a:rPr lang="en-US" dirty="0"/>
              <a:t>18</a:t>
            </a:r>
          </a:p>
          <a:p>
            <a:r>
              <a:rPr lang="en-US" dirty="0"/>
              <a:t>Downtime:</a:t>
            </a:r>
          </a:p>
          <a:p>
            <a:r>
              <a:rPr lang="en-US" dirty="0"/>
              <a:t>14 minutes</a:t>
            </a:r>
          </a:p>
          <a:p>
            <a:r>
              <a:rPr lang="en-US" dirty="0"/>
              <a:t>Maintenance completed: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Predicted failures: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Recommended inspections:</a:t>
            </a:r>
          </a:p>
          <a:p>
            <a:r>
              <a:rPr lang="en-US" dirty="0"/>
              <a:t>Pump-3</a:t>
            </a:r>
          </a:p>
          <a:p>
            <a:r>
              <a:rPr lang="en-US" dirty="0"/>
              <a:t>Motor-12</a:t>
            </a:r>
          </a:p>
          <a:p>
            <a:r>
              <a:rPr lang="en-US" dirty="0"/>
              <a:t>Valve-8</a:t>
            </a:r>
          </a:p>
        </p:txBody>
      </p:sp>
    </p:spTree>
    <p:extLst>
      <p:ext uri="{BB962C8B-B14F-4D97-AF65-F5344CB8AC3E}">
        <p14:creationId xmlns:p14="http://schemas.microsoft.com/office/powerpoint/2010/main" val="2451176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53AD-489D-2059-569F-F5AFAC56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D2EC-F686-11E9-CB09-355E27A1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Temperature:</a:t>
            </a:r>
            <a:r>
              <a:rPr lang="en-US" dirty="0"/>
              <a:t> 25–95 °C </a:t>
            </a:r>
          </a:p>
          <a:p>
            <a:r>
              <a:rPr lang="en-US" b="1" dirty="0"/>
              <a:t>Pressure:</a:t>
            </a:r>
            <a:r>
              <a:rPr lang="en-US" dirty="0"/>
              <a:t> 2–20 bar </a:t>
            </a:r>
          </a:p>
          <a:p>
            <a:r>
              <a:rPr lang="en-US" b="1" dirty="0"/>
              <a:t>Flow Rate:</a:t>
            </a:r>
            <a:r>
              <a:rPr lang="en-US" dirty="0"/>
              <a:t> 100–800 L/min </a:t>
            </a:r>
          </a:p>
          <a:p>
            <a:r>
              <a:rPr lang="en-US" b="1" dirty="0"/>
              <a:t>Vibration:</a:t>
            </a:r>
            <a:r>
              <a:rPr lang="en-US" dirty="0"/>
              <a:t> 0.1–8 mm/s </a:t>
            </a:r>
          </a:p>
          <a:p>
            <a:r>
              <a:rPr lang="en-US" b="1" dirty="0"/>
              <a:t>Voltage:</a:t>
            </a:r>
            <a:r>
              <a:rPr lang="en-US" dirty="0"/>
              <a:t> 380–440 V </a:t>
            </a:r>
          </a:p>
          <a:p>
            <a:r>
              <a:rPr lang="en-US" b="1" dirty="0"/>
              <a:t>Current:</a:t>
            </a:r>
            <a:r>
              <a:rPr lang="en-US" dirty="0"/>
              <a:t> 5–50 A </a:t>
            </a:r>
          </a:p>
          <a:p>
            <a:r>
              <a:rPr lang="en-US" b="1" dirty="0"/>
              <a:t>RPM:</a:t>
            </a:r>
            <a:r>
              <a:rPr lang="en-US" dirty="0"/>
              <a:t> 500–3600</a:t>
            </a:r>
          </a:p>
        </p:txBody>
      </p:sp>
    </p:spTree>
    <p:extLst>
      <p:ext uri="{BB962C8B-B14F-4D97-AF65-F5344CB8AC3E}">
        <p14:creationId xmlns:p14="http://schemas.microsoft.com/office/powerpoint/2010/main" val="2463883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CAF81-A07F-BB3A-43B0-A07F71B9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BC6DD-BC5A-CA76-10A9-5B4987431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PLC</a:t>
            </a:r>
            <a:r>
              <a:rPr lang="en-US" dirty="0"/>
              <a:t> (Programmable Logic Controller) is a specialized industrial computer that controls machinery and processes in real time.</a:t>
            </a:r>
          </a:p>
          <a:p>
            <a:r>
              <a:rPr lang="en-US" b="1" dirty="0"/>
              <a:t>SCADA</a:t>
            </a:r>
            <a:r>
              <a:rPr lang="en-US" dirty="0"/>
              <a:t> (Supervisory Control and Data Acquisition) is a software-centric platform that monitors, aggregates data from, and oversees entire facilities or massive geographic systems made up of many PLCs.</a:t>
            </a:r>
          </a:p>
        </p:txBody>
      </p:sp>
    </p:spTree>
    <p:extLst>
      <p:ext uri="{BB962C8B-B14F-4D97-AF65-F5344CB8AC3E}">
        <p14:creationId xmlns:p14="http://schemas.microsoft.com/office/powerpoint/2010/main" val="1779634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68E0-D2CD-E882-BA2D-81B0F645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062B7-290A-0511-974D-5AE9011F6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highlight>
                  <a:srgbClr val="FF0000"/>
                </a:highlight>
              </a:rPr>
              <a:t>Thank</a:t>
            </a:r>
            <a:r>
              <a:rPr lang="en-US" sz="8000" dirty="0">
                <a:highlight>
                  <a:srgbClr val="008080"/>
                </a:highlight>
              </a:rPr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653337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D3400E-6F09-4095-A193-295469FC77AB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1347</TotalTime>
  <Words>623</Words>
  <Application>Microsoft Office PowerPoint</Application>
  <PresentationFormat>Widescreen</PresentationFormat>
  <Paragraphs>173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Century Gothic</vt:lpstr>
      <vt:lpstr>Wingdings 3</vt:lpstr>
      <vt:lpstr>Ion Boardroom</vt:lpstr>
      <vt:lpstr>AetherTwin.AI</vt:lpstr>
      <vt:lpstr>Problem Statement </vt:lpstr>
      <vt:lpstr>Intelligent Alerts </vt:lpstr>
      <vt:lpstr>Intelligent Alarm</vt:lpstr>
      <vt:lpstr>Root Cause Analysis</vt:lpstr>
      <vt:lpstr>Root Cause Analysis</vt:lpstr>
      <vt:lpstr>Predictive Maintenance</vt:lpstr>
      <vt:lpstr>AI Assistant</vt:lpstr>
      <vt:lpstr>Alarm Escalation</vt:lpstr>
      <vt:lpstr>Spare Parts Assistant</vt:lpstr>
      <vt:lpstr>Equipment Digital Twin</vt:lpstr>
      <vt:lpstr>PLC Logic Assistant</vt:lpstr>
      <vt:lpstr>Technology Stack</vt:lpstr>
      <vt:lpstr>AI/ML Technology Stack</vt:lpstr>
      <vt:lpstr>Security</vt:lpstr>
      <vt:lpstr>Enhancements</vt:lpstr>
      <vt:lpstr>AI Shift Report Generator</vt:lpstr>
      <vt:lpstr>KPI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Tharigopula</dc:creator>
  <cp:lastModifiedBy>Rajesh Tharigopula</cp:lastModifiedBy>
  <cp:revision>21</cp:revision>
  <dcterms:created xsi:type="dcterms:W3CDTF">2026-07-09T08:26:39Z</dcterms:created>
  <dcterms:modified xsi:type="dcterms:W3CDTF">2026-07-10T06:54:17Z</dcterms:modified>
</cp:coreProperties>
</file>